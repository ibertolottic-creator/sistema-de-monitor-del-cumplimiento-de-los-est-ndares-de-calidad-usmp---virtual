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2E8F0"/>
                </a:solidFill>
              </a:rPr>
              <a:t>UNIVERSIDAD DE SAN MARTÍN DE PORRES  |  USMP VIRTUAL
</a:t>
            </a:r>
          </a:p>
          <a:p>
            <a:pPr>
              <a:spcBef>
                <a:spcPts val="1400"/>
              </a:spcBef>
            </a:pPr>
            <a:r>
              <a:rPr sz="3000" b="1">
                <a:solidFill>
                  <a:srgbClr val="FFFFFF"/>
                </a:solidFill>
              </a:rPr>
              <a:t>Sistema de Monitoreo del Cumplimiento de los Estándares de Calidad y Desempeño Docente</a:t>
            </a:r>
          </a:p>
          <a:p>
            <a:pPr>
              <a:spcBef>
                <a:spcPts val="1200"/>
              </a:spcBef>
            </a:pPr>
            <a:r>
              <a:rPr sz="1650">
                <a:solidFill>
                  <a:srgbClr val="D69E2E"/>
                </a:solidFill>
              </a:rPr>
              <a:t>Automatización Integral, Acreditación Continua y Business Intelligence (Pregrado y Posgrado)</a:t>
            </a:r>
          </a:p>
          <a:p>
            <a:pPr>
              <a:spcBef>
                <a:spcPts val="2800"/>
              </a:spcBef>
            </a:pPr>
            <a:r>
              <a:rPr sz="1250">
                <a:solidFill>
                  <a:srgbClr val="CBD5E1"/>
                </a:solidFill>
              </a:rPr>
              <a:t>Arquitectura Serverless: Google Apps Script  •  Google Sheets  •  Google Drive  •  Docs API
Unidad de Virtualización Académica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8B0000"/>
                </a:solidFill>
              </a:rPr>
              <a:t>PROBLEMATICA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A365D"/>
                </a:solidFill>
              </a:rPr>
              <a:t>Diagnóstico: Cuellos de Botella del Monitoreo Tradicional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74520"/>
            <a:ext cx="457200" cy="45720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103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A365D"/>
                </a:solidFill>
              </a:rPr>
              <a:t>Sobreescritura y Bloqueos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4A5568"/>
                </a:solidFill>
              </a:rPr>
              <a:t>Uso de Excels compartidos sin control de concurrencia. Pérdida de evaluaciones y colisión entre coordinadores.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874520"/>
            <a:ext cx="457200" cy="45720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2103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A365D"/>
                </a:solidFill>
              </a:rPr>
              <a:t>Cruce Manual Complejo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4A5568"/>
                </a:solidFill>
              </a:rPr>
              <a:t>Jornadas enteras cruzando manualmente notas LMS y Acompañamiento por DNI con alto riesgo de error humano.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874520"/>
            <a:ext cx="457200" cy="45720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2103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A365D"/>
                </a:solidFill>
              </a:rPr>
              <a:t>Fichas Word Manuales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4A5568"/>
                </a:solidFill>
              </a:rPr>
              <a:t>Redacción artesanal de actas y fichas de acreditación (~15 min por curso), sumando cientos de horas hombre.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1874520"/>
            <a:ext cx="457200" cy="45720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468880"/>
            <a:ext cx="2103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A365D"/>
                </a:solidFill>
              </a:rPr>
              <a:t>Falta de BI en Tiempo Real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4A5568"/>
                </a:solidFill>
              </a:rPr>
              <a:t>Desconocimiento de indicadores clave de avance y debilidades pedagógicas hasta el cierre de periodo.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8B0000"/>
                </a:solidFill>
              </a:rPr>
              <a:t>ARQUITECTURA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A365D"/>
                </a:solidFill>
              </a:rPr>
              <a:t>La Solución: Ecosistema Modular Integrado (8 Subsistemas)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74520"/>
            <a:ext cx="457200" cy="4572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103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A365D"/>
                </a:solidFill>
              </a:rPr>
              <a:t>Seguridad y LockService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4A5568"/>
                </a:solidFill>
              </a:rPr>
              <a:t>Control de concurrencia y roles estrictos. Filtrado por fila (Row-Level Security) según coordinador.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874520"/>
            <a:ext cx="457200" cy="4572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2103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A365D"/>
                </a:solidFill>
              </a:rPr>
              <a:t>Operativo LMS y Semáforo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4A5568"/>
                </a:solidFill>
              </a:rPr>
              <a:t>Indexación dinámica de rúbricas (Virtual/Presencial) y reloj de 31 días en Acompañamiento Pedagógico.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874520"/>
            <a:ext cx="457200" cy="4572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2103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A365D"/>
                </a:solidFill>
              </a:rPr>
              <a:t>Motor de Fichas (Docs API)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4A5568"/>
                </a:solidFill>
              </a:rPr>
              <a:t>Generación instantánea de actas oficiales con RegEx y almacenamiento desatendido en Google Drive.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1874520"/>
            <a:ext cx="457200" cy="4572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468880"/>
            <a:ext cx="2103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A365D"/>
                </a:solidFill>
              </a:rPr>
              <a:t>Business Intelligence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4A5568"/>
                </a:solidFill>
              </a:rPr>
              <a:t>Data Mart 'Sábana General' de 72 cols, gráficos dinámicos y BI de productividad de coordinadores.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8B0000"/>
                </a:solidFill>
              </a:rPr>
              <a:t>EFICIENCIA OPERATIVA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A365D"/>
                </a:solidFill>
              </a:rPr>
              <a:t>Análisis Comparativo de Procesos y Tiempos de Supervisión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  <a:gridCol w="1280160"/>
                <a:gridCol w="3017520"/>
                <a:gridCol w="1307592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Proceso de Monitoreo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Método Tradicional (Excel/Word)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Tiempo Trad.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Sistema Web USMP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</a:rPr>
                        <a:t>Tiempo Sistema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1. Supervisión de Aula LMS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Búsqueda en Excel, digitación y fórmulas manuales.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0000"/>
                          </a:solidFill>
                        </a:rPr>
                        <a:t>25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Formulario web responsivo, autocompletado y timestamps.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6534"/>
                          </a:solidFill>
                        </a:rPr>
                        <a:t>6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2. Ficha de Observación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Copia manual de notas a plantilla Word y exportación a PDF.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0000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Generación con 1 clic con Google Docs API a Drive.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6534"/>
                          </a:solidFill>
                        </a:rPr>
                        <a:t>30 seg (Auto)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3. Consolidación de Notas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Cruce manual de notas LMS + Acompañamiento por DNI.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0000"/>
                          </a:solidFill>
                        </a:rPr>
                        <a:t>12 horas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Cálculo en memoria RAM y DataTables de 33 columnas.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6534"/>
                          </a:solidFill>
                        </a:rPr>
                        <a:t>0 min (Auto)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4. Extracción de Fallas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Revisión celda por celda y redacción manual de textos.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0000"/>
                          </a:solidFill>
                        </a:rPr>
                        <a:t>8 min / doc.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Extractor automático que convierte códigos en texto humano.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6534"/>
                          </a:solidFill>
                        </a:rPr>
                        <a:t>0 min (Auto)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5. Notificación y Reporte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Redacción de correos individuales y copia manual.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8B0000"/>
                          </a:solidFill>
                        </a:rPr>
                        <a:t>10 min / doc.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</a:rPr>
                        <a:t>Plantilla oficial con fórmulas vigesimales y WhatsApp Web.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6534"/>
                          </a:solidFill>
                        </a:rPr>
                        <a:t>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8B0000"/>
                </a:solidFill>
              </a:rPr>
              <a:t>MÉTRICAS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A365D"/>
                </a:solidFill>
              </a:rPr>
              <a:t>Impacto Cuantitativo: 80.5% de Reducción en Carga Operativa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7977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166534"/>
                </a:solidFill>
              </a:rPr>
              <a:t>-80.5%</a:t>
            </a:r>
          </a:p>
          <a:p>
            <a:pPr algn="ctr">
              <a:spcBef>
                <a:spcPts val="1000"/>
              </a:spcBef>
            </a:pPr>
            <a:r>
              <a:rPr sz="1550" b="1">
                <a:solidFill>
                  <a:srgbClr val="0F172A"/>
                </a:solidFill>
              </a:rPr>
              <a:t>Optimización de Tiempo Total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4A5568"/>
                </a:solidFill>
              </a:rPr>
              <a:t>De ~180 horas a solo 35 horas totales por semestre en tareas de supervisión y gestión.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EBF8FF"/>
          </a:solidFill>
          <a:ln w="254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2103120"/>
            <a:ext cx="277977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1A365D"/>
                </a:solidFill>
              </a:rPr>
              <a:t>145+ Horas</a:t>
            </a:r>
          </a:p>
          <a:p>
            <a:pPr algn="ctr">
              <a:spcBef>
                <a:spcPts val="1000"/>
              </a:spcBef>
            </a:pPr>
            <a:r>
              <a:rPr sz="1550" b="1">
                <a:solidFill>
                  <a:srgbClr val="0F172A"/>
                </a:solidFill>
              </a:rPr>
              <a:t>Horas Hombre Recuperadas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4A5568"/>
                </a:solidFill>
              </a:rPr>
              <a:t>Tiempo reasignado a acompañamiento pedagógico proactivo y mejora continua del docente.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103120"/>
            <a:ext cx="2779776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200" b="1">
                <a:solidFill>
                  <a:srgbClr val="8B0000"/>
                </a:solidFill>
              </a:rPr>
              <a:t>1 Clic</a:t>
            </a:r>
          </a:p>
          <a:p>
            <a:pPr algn="ctr">
              <a:spcBef>
                <a:spcPts val="1000"/>
              </a:spcBef>
            </a:pPr>
            <a:r>
              <a:rPr sz="1550" b="1">
                <a:solidFill>
                  <a:srgbClr val="0F172A"/>
                </a:solidFill>
              </a:rPr>
              <a:t>Generación de Fichas Oficiales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4A5568"/>
                </a:solidFill>
              </a:rPr>
              <a:t>Creación de actas con formato institucional listas para auditorías de licenciamiento y acreditación.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8B0000"/>
                </a:solidFill>
              </a:rPr>
              <a:t>INTELIGENCIA DE NEGOCIOS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1A365D"/>
                </a:solidFill>
              </a:rPr>
              <a:t>Business Intelligence: Decisiones Académicas en Tiempo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74520"/>
            <a:ext cx="457200" cy="4572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/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103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A365D"/>
                </a:solidFill>
              </a:rPr>
              <a:t>Sábana General (72 Cols)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4A5568"/>
                </a:solidFill>
              </a:rPr>
              <a:t>Data Mart estructurado que unifica asignación, LMS expandido, acompañamiento y score vigesimal final.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874520"/>
            <a:ext cx="457200" cy="4572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/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2103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A365D"/>
                </a:solidFill>
              </a:rPr>
              <a:t>Doble Gráfico Dinámico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4A5568"/>
                </a:solidFill>
              </a:rPr>
              <a:t>Distribución de niveles (Doughnut) y promedios por criterio (Barras) adaptados a la modalidad elegida.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874520"/>
            <a:ext cx="457200" cy="4572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/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2103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A365D"/>
                </a:solidFill>
              </a:rPr>
              <a:t>Productividad del Equipo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4A5568"/>
                </a:solidFill>
              </a:rPr>
              <a:t>Algoritmo de clustering que calcula el tiempo neto real de auditoría LMS descartando tiempos muertos.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1874520"/>
            <a:ext cx="457200" cy="4572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/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468880"/>
            <a:ext cx="21031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A365D"/>
                </a:solidFill>
              </a:rPr>
              <a:t>Pastillas Visuales (Pills)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4A5568"/>
                </a:solidFill>
              </a:rPr>
              <a:t>Identificación inmediata en el consolidado de los criterios pedagógicos que requieren refuerzo.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9875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Conclusiones y Recomendación Institucional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1. Innovación Tecnológica de Alto Impacto: Reemplaza hojas de cálculo dispersas por una arquitectura Cloud Serverless segura y escalable.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2. Retorno Inmediato en Eficiencia (80.5%): Ahorro directo de más de 145 horas hombre por semestre, liberando al equipo para labores de calidad docente.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3. Solidez en Acreditación y Licenciamiento: Evidencias documentales oficiales generadas al instante con trazabilidad inmutable.</a:t>
            </a:r>
          </a:p>
          <a:p>
            <a:pPr>
              <a:spcBef>
                <a:spcPts val="1400"/>
              </a:spcBef>
            </a:pPr>
            <a:r>
              <a:rPr sz="1300">
                <a:solidFill>
                  <a:srgbClr val="E2E8F0"/>
                </a:solidFill>
              </a:rPr>
              <a:t>4. Cero Costo Adicional: 100% operativo sobre las licencias de Google Workspace institucionales de la USMP.</a:t>
            </a:r>
          </a:p>
          <a:p>
            <a:pPr>
              <a:spcBef>
                <a:spcPts val="2000"/>
              </a:spcBef>
            </a:pPr>
            <a:r>
              <a:rPr sz="1500" b="1">
                <a:solidFill>
                  <a:srgbClr val="D69E2E"/>
                </a:solidFill>
              </a:rPr>
              <a:t>RECOMENDACIÓN: Institucionalizar la plataforma como el sistema oficial obligatorio de supervisión académica y acreditación en Pregrado y Posgrado.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